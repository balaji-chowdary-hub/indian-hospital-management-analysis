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8" d="100"/>
          <a:sy n="78" d="100"/>
        </p:scale>
        <p:origin x="94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7450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772400" y="-548640"/>
            <a:ext cx="2286000" cy="2286000"/>
          </a:xfrm>
          <a:prstGeom prst="ellipse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229600" y="365760"/>
            <a:ext cx="1371600" cy="1371600"/>
          </a:xfrm>
          <a:prstGeom prst="ellipse">
            <a:avLst/>
          </a:prstGeom>
          <a:solidFill>
            <a:srgbClr val="02A896">
              <a:alpha val="25000"/>
            </a:srgbClr>
          </a:solidFill>
          <a:ln w="12700">
            <a:solidFill>
              <a:srgbClr val="02A89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-457200" y="3840480"/>
            <a:ext cx="1828800" cy="18288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92608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INDIAN HOSPITAL MANAGEMENT SYSTEM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Analytics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2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Decisions for Revenue, Efficiency &amp; Patient Outcomes  |  2019–2023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840480"/>
            <a:ext cx="1920240" cy="822960"/>
          </a:xfrm>
          <a:prstGeom prst="rect">
            <a:avLst/>
          </a:prstGeom>
          <a:solidFill>
            <a:srgbClr val="1A3C6E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" y="385876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100K+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" y="42245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B4CC"/>
                </a:solidFill>
              </a:rPr>
              <a:t>Encounters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06040" y="3840480"/>
            <a:ext cx="1920240" cy="822960"/>
          </a:xfrm>
          <a:prstGeom prst="rect">
            <a:avLst/>
          </a:prstGeom>
          <a:solidFill>
            <a:srgbClr val="1A3C6E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606040" y="385876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79K+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606040" y="42245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B4CC"/>
                </a:solidFill>
              </a:rPr>
              <a:t>Patients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3840480"/>
            <a:ext cx="1920240" cy="822960"/>
          </a:xfrm>
          <a:prstGeom prst="rect">
            <a:avLst/>
          </a:prstGeom>
          <a:solidFill>
            <a:srgbClr val="1A3C6E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754880" y="385876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754880" y="42245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B4CC"/>
                </a:solidFill>
              </a:rPr>
              <a:t>Years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03720" y="3840480"/>
            <a:ext cx="1920240" cy="822960"/>
          </a:xfrm>
          <a:prstGeom prst="rect">
            <a:avLst/>
          </a:prstGeom>
          <a:solidFill>
            <a:srgbClr val="1A3C6E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903720" y="385876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03720" y="42245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B4CC"/>
                </a:solidFill>
              </a:rPr>
              <a:t>Data Tables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AGENDA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50292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923544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Project Overview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26187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Database schema, tables &amp; scope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87452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65760" y="1874520"/>
            <a:ext cx="50292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65760" y="187452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1929384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Patient Demographics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26771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Age, gender, insurance &amp; geography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65760" y="2880360"/>
            <a:ext cx="50292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65760" y="288036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2935224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Clinical Operations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27355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LOS, encounters, department performance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88620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65760" y="3886200"/>
            <a:ext cx="50292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65760" y="388620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0120" y="3941064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Revenue &amp; Billing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427939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Revenue trends, billing status, recovery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86868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846320" y="868680"/>
            <a:ext cx="50292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846320" y="86868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40680" y="923544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Doctor Performance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40680" y="126187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Top doctors by revenue &amp; satisfaction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187452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846320" y="1874520"/>
            <a:ext cx="50292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846320" y="187452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40680" y="1929384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Risk &amp; Outcomes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40680" y="226771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Chronic patients, mortality, readmissions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288036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846320" y="2880360"/>
            <a:ext cx="50292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846320" y="288036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440680" y="2935224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Key Insights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40680" y="327355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KPIs, findings &amp; strategic recommendations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PROJECT OVERVIEW  |  Database Schema &amp; Scope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4B"/>
                </a:solidFill>
              </a:rPr>
              <a:t>5 Core Tables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023360" cy="603504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64008" cy="60350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h_patient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Patient demographics, insurance, risk flags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83280" y="1316736"/>
            <a:ext cx="868680" cy="329184"/>
          </a:xfrm>
          <a:prstGeom prst="rect">
            <a:avLst/>
          </a:prstGeom>
          <a:solidFill>
            <a:srgbClr val="B2EFE8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383280" y="1316736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</a:rPr>
              <a:t>79K+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911096"/>
            <a:ext cx="4023360" cy="603504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65760" y="1911096"/>
            <a:ext cx="64008" cy="60350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19568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h_encounter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220370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Admissions, LOS, diagnosis, cost, year-month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83280" y="2039112"/>
            <a:ext cx="868680" cy="329184"/>
          </a:xfrm>
          <a:prstGeom prst="rect">
            <a:avLst/>
          </a:prstGeom>
          <a:solidFill>
            <a:srgbClr val="B2EFE8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383280" y="2039112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</a:rPr>
              <a:t>100K+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633472"/>
            <a:ext cx="4023360" cy="603504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65760" y="2633472"/>
            <a:ext cx="64008" cy="60350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48640" y="26791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h_billing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29260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Procedure cost, insurance paid, outstanding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83280" y="2761488"/>
            <a:ext cx="868680" cy="329184"/>
          </a:xfrm>
          <a:prstGeom prst="rect">
            <a:avLst/>
          </a:prstGeom>
          <a:solidFill>
            <a:srgbClr val="B2EFE8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383280" y="2761488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</a:rPr>
              <a:t>100K+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355848"/>
            <a:ext cx="4023360" cy="603504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65760" y="3355848"/>
            <a:ext cx="64008" cy="60350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48640" y="34015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doctors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364845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Specialization, experience, avg rating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383280" y="3483864"/>
            <a:ext cx="868680" cy="329184"/>
          </a:xfrm>
          <a:prstGeom prst="rect">
            <a:avLst/>
          </a:prstGeom>
          <a:solidFill>
            <a:srgbClr val="B2EFE8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383280" y="3483864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</a:rPr>
              <a:t>200+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78224"/>
            <a:ext cx="4023360" cy="603504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365760" y="4078224"/>
            <a:ext cx="64008" cy="60350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48640" y="412394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43708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Bed capacity, occupancy rate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391444" y="4206240"/>
            <a:ext cx="868680" cy="329184"/>
          </a:xfrm>
          <a:prstGeom prst="rect">
            <a:avLst/>
          </a:prstGeom>
          <a:solidFill>
            <a:srgbClr val="B2EFE8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4" name="Text 32"/>
          <p:cNvSpPr/>
          <p:nvPr/>
        </p:nvSpPr>
        <p:spPr>
          <a:xfrm>
            <a:off x="3383280" y="4206240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</a:rPr>
              <a:t>40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46320" y="74980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4B"/>
                </a:solidFill>
              </a:rPr>
              <a:t>SQL Techniques Used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846320" y="1188720"/>
            <a:ext cx="685800" cy="402336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846320" y="1188720"/>
            <a:ext cx="685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2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623560" y="122529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5-table JOINs via master VIEW (vw_encounter_master)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846320" y="1810512"/>
            <a:ext cx="685800" cy="402336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846320" y="1810512"/>
            <a:ext cx="685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2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623560" y="184708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LAG(), RANK(), SUM() OVER() for trends &amp; rankings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846320" y="2432304"/>
            <a:ext cx="685800" cy="402336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846320" y="2432304"/>
            <a:ext cx="685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2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CTE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623560" y="24688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WITH clauses for YoY &amp; YTD revenue growth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846320" y="3054096"/>
            <a:ext cx="685800" cy="402336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846320" y="3054096"/>
            <a:ext cx="685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2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623560" y="309067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GROUP BY with COUNT, SUM, AVG, ROUND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846320" y="3675888"/>
            <a:ext cx="685800" cy="402336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4846320" y="3675888"/>
            <a:ext cx="685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2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UNION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5623560" y="371246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UNION ALL for cross-table row count summary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846320" y="4297680"/>
            <a:ext cx="685800" cy="402336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4846320" y="4297680"/>
            <a:ext cx="685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2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5623560" y="433425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WHERE, HAVING, NULLIF for safe division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PATIENT DEMOGRAPHICS  |  Age, Gender &amp; Insurance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196596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79K+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16128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Total Patients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50592" y="731520"/>
            <a:ext cx="1965960" cy="822960"/>
          </a:xfrm>
          <a:prstGeom prst="rect">
            <a:avLst/>
          </a:prstGeom>
          <a:solidFill>
            <a:srgbClr val="E85D4A"/>
          </a:solidFill>
          <a:ln w="12700">
            <a:solidFill>
              <a:srgbClr val="E85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450592" y="74980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7,864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450592" y="116128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High Risk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26864" y="731520"/>
            <a:ext cx="1965960" cy="8229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626864" y="74980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24.68%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26864" y="116128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High Risk Share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03136" y="731520"/>
            <a:ext cx="1965960" cy="82296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803136" y="74980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03136" y="116128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Insurance Types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" y="17373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4B"/>
                </a:solidFill>
              </a:rPr>
              <a:t>Patient Age Distribution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" y="2148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Senior (61+)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920240" y="2203704"/>
            <a:ext cx="150876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474720" y="21488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30%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26517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Middle (41-60)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920240" y="2706624"/>
            <a:ext cx="1408176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374136" y="26517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28%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3154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Adult (26-40)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920240" y="3209544"/>
            <a:ext cx="1106424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072384" y="31546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22%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4320" y="3657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Young (18-25)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920240" y="3712464"/>
            <a:ext cx="603504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569464" y="36576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12%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" y="4160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Child (0-17)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920240" y="4215384"/>
            <a:ext cx="402336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2368296" y="4160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8%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0" y="1737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4B"/>
                </a:solidFill>
              </a:rPr>
              <a:t>Gender Split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572000" y="2148840"/>
            <a:ext cx="1371600" cy="50292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572000" y="21488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Male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51%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0" y="2862072"/>
            <a:ext cx="1371600" cy="502920"/>
          </a:xfrm>
          <a:prstGeom prst="rect">
            <a:avLst/>
          </a:prstGeom>
          <a:solidFill>
            <a:srgbClr val="E85D4A"/>
          </a:solidFill>
          <a:ln w="12700">
            <a:solidFill>
              <a:srgbClr val="E85D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572000" y="286207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Female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46%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0" y="3575304"/>
            <a:ext cx="137160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572000" y="3575304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Other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3%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17920" y="1737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4B"/>
                </a:solidFill>
              </a:rPr>
              <a:t>Insurance Type Distribution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217920" y="2148840"/>
            <a:ext cx="201168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492240" y="21488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Private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046720" y="21488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28090"/>
                </a:solidFill>
              </a:rPr>
              <a:t>28%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17920" y="2651760"/>
            <a:ext cx="201168" cy="274320"/>
          </a:xfrm>
          <a:prstGeom prst="rect">
            <a:avLst/>
          </a:prstGeom>
          <a:solidFill>
            <a:srgbClr val="E85D4A"/>
          </a:solidFill>
          <a:ln w="12700">
            <a:solidFill>
              <a:srgbClr val="E85D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492240" y="26517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Ayushman Bharat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046720" y="26517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85D4A"/>
                </a:solidFill>
              </a:rPr>
              <a:t>24%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217920" y="3154680"/>
            <a:ext cx="201168" cy="27432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492240" y="3154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CGHS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046720" y="31546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3C6E"/>
                </a:solidFill>
              </a:rPr>
              <a:t>20%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217920" y="3657600"/>
            <a:ext cx="201168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492240" y="36576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ESIC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046720" y="3657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97706"/>
                </a:solidFill>
              </a:rPr>
              <a:t>17%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217920" y="4160520"/>
            <a:ext cx="201168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6492240" y="41605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Uninsured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046720" y="4160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4748B"/>
                </a:solidFill>
              </a:rPr>
              <a:t>11%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274320" y="47548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SQL Query: Gender Breakdown  |  Insurance Distribution  |  Age Group Analysis  |  Top 10 States by Patient Volume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GEOGRAPHY  |  Top 10 States by Patient Volume &amp; Readmission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8595360" cy="36576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731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926080" y="731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Patients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37760" y="731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Readmissions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0" y="731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Readmit 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143000"/>
            <a:ext cx="8595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74320" y="11430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Maharashtra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0" y="11430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9,800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37760" y="1225296"/>
            <a:ext cx="1168603" cy="182880"/>
          </a:xfrm>
          <a:prstGeom prst="rect">
            <a:avLst/>
          </a:prstGeom>
          <a:solidFill>
            <a:srgbClr val="E85D4A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583680" y="11430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21.3%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508760"/>
            <a:ext cx="859536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74320" y="15087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Tamil Nadu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26080" y="15087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8,500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7760" y="1591056"/>
            <a:ext cx="1086307" cy="182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583680" y="15087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</a:rPr>
              <a:t>19.8%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1874520"/>
            <a:ext cx="8595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74320" y="18745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Karnataka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926080" y="18745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7,900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37760" y="1956816"/>
            <a:ext cx="1212494" cy="182880"/>
          </a:xfrm>
          <a:prstGeom prst="rect">
            <a:avLst/>
          </a:prstGeom>
          <a:solidFill>
            <a:srgbClr val="E85D4A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583680" y="18745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5D4A"/>
                </a:solidFill>
              </a:rPr>
              <a:t>22.1%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240280"/>
            <a:ext cx="859536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74320" y="22402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Uttar Pradesh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926080" y="22402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7,200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37760" y="2322576"/>
            <a:ext cx="1344168" cy="182880"/>
          </a:xfrm>
          <a:prstGeom prst="rect">
            <a:avLst/>
          </a:prstGeom>
          <a:solidFill>
            <a:srgbClr val="E85D4A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583680" y="22402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5D4A"/>
                </a:solidFill>
              </a:rPr>
              <a:t>24.5%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2606040"/>
            <a:ext cx="8595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74320" y="26060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West Bengal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926080" y="26060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6,800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37760" y="2688336"/>
            <a:ext cx="1146658" cy="182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583680" y="26060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20.9%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2971800"/>
            <a:ext cx="859536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274320" y="29718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Gujarat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926080" y="29718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6,100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937760" y="3054096"/>
            <a:ext cx="1004011" cy="182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583680" y="29718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</a:rPr>
              <a:t>18.3%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74320" y="3337560"/>
            <a:ext cx="8595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274320" y="33375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Rajasthan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926080" y="33375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5,600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937760" y="3419856"/>
            <a:ext cx="1261872" cy="182880"/>
          </a:xfrm>
          <a:prstGeom prst="rect">
            <a:avLst/>
          </a:prstGeom>
          <a:solidFill>
            <a:srgbClr val="E85D4A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583680" y="33375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5D4A"/>
                </a:solidFill>
              </a:rPr>
              <a:t>23%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74320" y="3703320"/>
            <a:ext cx="859536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274320" y="37033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Andhra Pradesh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926080" y="37033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5,300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937760" y="3785616"/>
            <a:ext cx="965606" cy="182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6583680" y="37033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</a:rPr>
              <a:t>17.6%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74320" y="4069080"/>
            <a:ext cx="8595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274320" y="40690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Telangana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2926080" y="40690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5,100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937760" y="4151376"/>
            <a:ext cx="1047902" cy="182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6583680" y="40690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</a:rPr>
              <a:t>19.1%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74320" y="4434840"/>
            <a:ext cx="859536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274320" y="44348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Delhi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2926080" y="44348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4,900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937760" y="4517136"/>
            <a:ext cx="1190549" cy="182880"/>
          </a:xfrm>
          <a:prstGeom prst="rect">
            <a:avLst/>
          </a:prstGeom>
          <a:solidFill>
            <a:srgbClr val="E85D4A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6583680" y="44348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21.7%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B2EFE8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274320" y="475488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</a:rPr>
              <a:t>Insight: Maharashtra, Tamil Nadu &amp; Karnataka hold 61% of overdue billing. UP &amp; Karnataka show highest readmission rates.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CLINICAL OPERATIONS  |  Length of Stay &amp; Department Performance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71323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4B"/>
                </a:solidFill>
              </a:rPr>
              <a:t>Top 8 Depts by Avg Length of Stay (days)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1430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ICU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74520" y="1216152"/>
            <a:ext cx="2834640" cy="201168"/>
          </a:xfrm>
          <a:prstGeom prst="rect">
            <a:avLst/>
          </a:prstGeom>
          <a:solidFill>
            <a:srgbClr val="E85D4A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782312" y="114300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12.4d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6002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Cardiology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74520" y="1673352"/>
            <a:ext cx="2468880" cy="201168"/>
          </a:xfrm>
          <a:prstGeom prst="rect">
            <a:avLst/>
          </a:prstGeom>
          <a:solidFill>
            <a:srgbClr val="E85D4A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416552" y="160020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10.8d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20574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Neurology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74520" y="2130552"/>
            <a:ext cx="2194560" cy="201168"/>
          </a:xfrm>
          <a:prstGeom prst="rect">
            <a:avLst/>
          </a:prstGeom>
          <a:solidFill>
            <a:srgbClr val="E85D4A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142232" y="205740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9.6d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" y="25146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Oncology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74520" y="2587752"/>
            <a:ext cx="2080260" cy="201168"/>
          </a:xfrm>
          <a:prstGeom prst="rect">
            <a:avLst/>
          </a:prstGeom>
          <a:solidFill>
            <a:srgbClr val="E85D4A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027932" y="251460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9.1d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" y="29718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Orthopedics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874520" y="3044952"/>
            <a:ext cx="171450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662172" y="297180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7.5d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34290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Pulmonology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74520" y="3502152"/>
            <a:ext cx="155448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502152" y="342900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6.8d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38862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Pediatrics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874520" y="3959352"/>
            <a:ext cx="118872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136392" y="388620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5.2d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4320" y="43434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General Med.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874520" y="4416552"/>
            <a:ext cx="93726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884932" y="434340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4.1d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20640" y="7132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4B"/>
                </a:solidFill>
              </a:rPr>
              <a:t>Bed Capacity vs Occupancy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120640" y="11704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ICU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132320" y="117043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80 beds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120640" y="1463040"/>
            <a:ext cx="3474720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5120640" y="1463040"/>
            <a:ext cx="3266237" cy="219456"/>
          </a:xfrm>
          <a:prstGeom prst="rect">
            <a:avLst/>
          </a:prstGeom>
          <a:solidFill>
            <a:srgbClr val="E85D4A"/>
          </a:solidFill>
          <a:ln w="12700">
            <a:solidFill>
              <a:srgbClr val="E85D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7929677" y="1463040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94%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120640" y="1920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Cardiology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132320" y="19202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120 beds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120640" y="2212848"/>
            <a:ext cx="3474720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5120640" y="2212848"/>
            <a:ext cx="3092501" cy="219456"/>
          </a:xfrm>
          <a:prstGeom prst="rect">
            <a:avLst/>
          </a:prstGeom>
          <a:solidFill>
            <a:srgbClr val="E85D4A"/>
          </a:solidFill>
          <a:ln w="12700">
            <a:solidFill>
              <a:srgbClr val="E85D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7755941" y="2212848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89%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120640" y="26700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Oncology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132320" y="267004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90 beds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120640" y="2962656"/>
            <a:ext cx="3474720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5120640" y="2962656"/>
            <a:ext cx="2849270" cy="21945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7512710" y="2962656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82%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120640" y="341985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Pediatrics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132320" y="341985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150 beds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120640" y="3712464"/>
            <a:ext cx="3474720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5120640" y="3712464"/>
            <a:ext cx="2606040" cy="21945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7269480" y="3712464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75%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120640" y="41696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General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132320" y="416966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200 beds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120640" y="4462272"/>
            <a:ext cx="3474720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5120640" y="4462272"/>
            <a:ext cx="2362810" cy="21945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7026250" y="4462272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68%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274320" y="475488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SQL: AVG LOS by dept JOIN  |  Bed capacity × occupancy_rate  |  Dept satisfaction JOIN patient + encounter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REVENUE &amp; BILLING  |  Collection, Outstanding &amp; Payment Status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82880" y="713232"/>
            <a:ext cx="2011680" cy="91440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82880" y="74980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₹2,466.59M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2880" y="12070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Total Procedure Cost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377440" y="713232"/>
            <a:ext cx="2011680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377440" y="74980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₹1,723M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377440" y="12070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Insurance Collected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0" y="713232"/>
            <a:ext cx="201168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0" y="74980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₹412M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12070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Patient Paid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766560" y="713232"/>
            <a:ext cx="2011680" cy="914400"/>
          </a:xfrm>
          <a:prstGeom prst="rect">
            <a:avLst/>
          </a:prstGeom>
          <a:solidFill>
            <a:srgbClr val="E85D4A"/>
          </a:solidFill>
          <a:ln w="12700">
            <a:solidFill>
              <a:srgbClr val="E85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766560" y="74980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₹331M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766560" y="12070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Outstanding Balance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74320" y="180136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4B"/>
                </a:solidFill>
              </a:rPr>
              <a:t>Payment Status Breakdown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2240280"/>
            <a:ext cx="228600" cy="365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94360" y="22402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Paid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011680" y="2331720"/>
            <a:ext cx="2282342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367174" y="2240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</a:rPr>
              <a:t>52%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2862072"/>
            <a:ext cx="228600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94360" y="286207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Partial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011680" y="2953512"/>
            <a:ext cx="1141171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226003" y="286207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26%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483864"/>
            <a:ext cx="228600" cy="365760"/>
          </a:xfrm>
          <a:prstGeom prst="rect">
            <a:avLst/>
          </a:prstGeom>
          <a:solidFill>
            <a:srgbClr val="E85D4A"/>
          </a:solidFill>
          <a:ln w="12700">
            <a:solidFill>
              <a:srgbClr val="E85D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94360" y="348386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Overdue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011680" y="3575304"/>
            <a:ext cx="614477" cy="201168"/>
          </a:xfrm>
          <a:prstGeom prst="rect">
            <a:avLst/>
          </a:prstGeom>
          <a:solidFill>
            <a:srgbClr val="E85D4A"/>
          </a:solidFill>
          <a:ln w="12700">
            <a:solidFill>
              <a:srgbClr val="E85D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699309" y="348386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5D4A"/>
                </a:solidFill>
              </a:rPr>
              <a:t>14%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105656"/>
            <a:ext cx="228600" cy="3657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94360" y="410565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Pending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011680" y="4197096"/>
            <a:ext cx="351130" cy="2011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2435962" y="410565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8%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663440" y="180136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4B"/>
                </a:solidFill>
              </a:rPr>
              <a:t>YoY Revenue Trend (2019–2023)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663440" y="3124434"/>
            <a:ext cx="502920" cy="128297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572000" y="2895834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8090"/>
                </a:solidFill>
              </a:rPr>
              <a:t>₹380M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663440" y="4443984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2019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532120" y="3428297"/>
            <a:ext cx="502920" cy="979111"/>
          </a:xfrm>
          <a:prstGeom prst="rect">
            <a:avLst/>
          </a:prstGeom>
          <a:solidFill>
            <a:srgbClr val="E85D4A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5440680" y="3199697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8090"/>
                </a:solidFill>
              </a:rPr>
              <a:t>₹290M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532120" y="4443984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2020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32120" y="2989385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5D4A"/>
                </a:solidFill>
              </a:rPr>
              <a:t>▼23.7%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400800" y="2921860"/>
            <a:ext cx="502920" cy="14855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309360" y="2693260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8090"/>
                </a:solidFill>
              </a:rPr>
              <a:t>₹440M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400800" y="4443984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2021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00800" y="2482948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</a:rPr>
              <a:t>▲51.7%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269480" y="2651760"/>
            <a:ext cx="502920" cy="17556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7178040" y="2423160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8090"/>
                </a:solidFill>
              </a:rPr>
              <a:t>₹520M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269480" y="4443984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2022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269480" y="2212848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</a:rPr>
              <a:t>▲18.2%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8138160" y="2347898"/>
            <a:ext cx="502920" cy="205951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8046720" y="2119298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8090"/>
                </a:solidFill>
              </a:rPr>
              <a:t>₹610M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138160" y="4443984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2023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138160" y="1908986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</a:rPr>
              <a:t>▲17.3%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274320" y="475488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SQL: Total revenue summary  |  YoY growth with LAG()  |  Monthly YTD with SUM() OVER  |  Overdue billing by state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DOCTOR PERFORMANCE  |  Top Doctors by Revenue &amp; Satisfaction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71323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4B"/>
                </a:solidFill>
              </a:rPr>
              <a:t>Top 10 Revenue-Generating Doctors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937760" y="7132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4B"/>
                </a:solidFill>
              </a:rPr>
              <a:t>Top 15 Doctor Performance (Satisfaction-ranked)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438912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107899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Doctor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63040" y="107899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Specialization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0" y="107899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Revenue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435608"/>
            <a:ext cx="43891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74320" y="1435608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1. Dr. Mehta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463040" y="143560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Cardiology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74720" y="1435608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</a:rPr>
              <a:t>₹8.2M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1764792"/>
            <a:ext cx="4389120" cy="31089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74320" y="1764792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2. Dr. Sharma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463040" y="1764792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Neurology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74720" y="176479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</a:rPr>
              <a:t>₹7.6M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093976"/>
            <a:ext cx="43891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74320" y="2093976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3. Dr. Reddy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463040" y="2093976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Oncology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74720" y="2093976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</a:rPr>
              <a:t>₹7.1M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2423160"/>
            <a:ext cx="4389120" cy="31089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74320" y="2423160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4. Dr. Gupta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463040" y="242316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Orthopedics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474720" y="242316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</a:rPr>
              <a:t>₹6.8M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2752344"/>
            <a:ext cx="43891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74320" y="2752344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5. Dr. Iyer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463040" y="2752344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ICU/Critical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474720" y="2752344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</a:rPr>
              <a:t>₹6.5M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3081528"/>
            <a:ext cx="4389120" cy="31089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274320" y="3081528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6. Dr. Nair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463040" y="308152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Pulmonology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474720" y="3081528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</a:rPr>
              <a:t>₹5.9M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3410712"/>
            <a:ext cx="43891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274320" y="3410712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7. Dr. Joshi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463040" y="3410712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Gastro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474720" y="341071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</a:rPr>
              <a:t>₹5.5M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74320" y="3739896"/>
            <a:ext cx="4389120" cy="31089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274320" y="3739896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8. Dr. Patel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463040" y="3739896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Nephrology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474720" y="3739896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</a:rPr>
              <a:t>₹5.2M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74320" y="4069080"/>
            <a:ext cx="43891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274320" y="4069080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9. Dr. Bose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463040" y="406908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Cardiology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474720" y="406908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</a:rPr>
              <a:t>₹4.9M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74320" y="4398264"/>
            <a:ext cx="4389120" cy="31089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274320" y="4398264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10. Dr. Singh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1463040" y="4398264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Neurology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474720" y="4398264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</a:rPr>
              <a:t>₹4.6M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937760" y="10789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Satisfaction vs Avg Cost per Case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120640" y="1417320"/>
            <a:ext cx="0" cy="30175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5120640" y="4434840"/>
            <a:ext cx="3657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4846320" y="1371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Satisfaction →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772400" y="44348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Cost/Case →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611856" y="3058851"/>
            <a:ext cx="319674" cy="319674"/>
          </a:xfrm>
          <a:prstGeom prst="ellipse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5314493" y="3378525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B1F4B"/>
                </a:solidFill>
              </a:rPr>
              <a:t>Kumar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250473" y="3218322"/>
            <a:ext cx="293340" cy="293340"/>
          </a:xfrm>
          <a:prstGeom prst="ellipse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5939942" y="351166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B1F4B"/>
                </a:solidFill>
              </a:rPr>
              <a:t>Rao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7405543" y="3338292"/>
            <a:ext cx="346009" cy="346009"/>
          </a:xfrm>
          <a:prstGeom prst="ellipse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7121347" y="36843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B1F4B"/>
                </a:solidFill>
              </a:rPr>
              <a:t>Mehta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151730" y="3524098"/>
            <a:ext cx="267005" cy="267005"/>
          </a:xfrm>
          <a:prstGeom prst="ellipse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4828032" y="379110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B1F4B"/>
                </a:solidFill>
              </a:rPr>
              <a:t>Das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869339" y="3650651"/>
            <a:ext cx="306507" cy="306507"/>
          </a:xfrm>
          <a:prstGeom prst="ellipse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6565392" y="3957157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B1F4B"/>
                </a:solidFill>
              </a:rPr>
              <a:t>Sharma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274320" y="475488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SQL: Top 10 docs by SUM(total_cost)  |  Top 15 performance: AVG(satisfaction), AVG(total_cost) with HAVING COUNT &gt; 20  |  JOIN doctors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RISK &amp; OUTCOMES  |  Chronic Patients, Mortality &amp; Readmissions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71323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4B"/>
                </a:solidFill>
              </a:rPr>
              <a:t>Chronic vs Non-Chronic Patient Comparison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4389120" cy="329184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111556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Metric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011680" y="111556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Chronic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0" y="111556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Non-Chronic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463040"/>
            <a:ext cx="4389120" cy="420624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74320" y="1463040"/>
            <a:ext cx="1691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Avg Cost / Encounter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11680" y="1463040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5D4A"/>
                </a:solidFill>
              </a:rPr>
              <a:t>₹62,400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0" y="1463040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</a:rPr>
              <a:t>₹27,100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1938528"/>
            <a:ext cx="43891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74320" y="1938528"/>
            <a:ext cx="1691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Avg LOS (days)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0" y="1938528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5D4A"/>
                </a:solidFill>
              </a:rPr>
              <a:t>8.4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0" y="1938528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</a:rPr>
              <a:t>3.7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414016"/>
            <a:ext cx="4389120" cy="420624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74320" y="2414016"/>
            <a:ext cx="1691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Avg Satisfaction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011680" y="2414016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5D4A"/>
                </a:solidFill>
              </a:rPr>
              <a:t>3.2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0" y="2414016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</a:rPr>
              <a:t>3.9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2889504"/>
            <a:ext cx="43891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74320" y="2889504"/>
            <a:ext cx="1691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Readmission Rate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011680" y="2889504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5D4A"/>
                </a:solidFill>
              </a:rPr>
              <a:t>31.2%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0" y="2889504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</a:rPr>
              <a:t>12.8%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401568"/>
            <a:ext cx="4389120" cy="640080"/>
          </a:xfrm>
          <a:prstGeom prst="rect">
            <a:avLst/>
          </a:prstGeom>
          <a:solidFill>
            <a:srgbClr val="E85D4A">
              <a:alpha val="12000"/>
            </a:srgbClr>
          </a:solidFill>
          <a:ln w="12700">
            <a:solidFill>
              <a:srgbClr val="E85D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65760" y="3429000"/>
            <a:ext cx="4206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5D4A"/>
                </a:solidFill>
              </a:rPr>
              <a:t>Chronic patients cost 2.3× more per encounter than non-chronic patients — the single biggest cost driver in the system.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37760" y="7132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4B"/>
                </a:solidFill>
              </a:rPr>
              <a:t>Mortality Rate by Age Group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37760" y="11430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Senior (61+)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858000" y="1225296"/>
            <a:ext cx="1667866" cy="182880"/>
          </a:xfrm>
          <a:prstGeom prst="rect">
            <a:avLst/>
          </a:prstGeom>
          <a:solidFill>
            <a:srgbClr val="E85D4A"/>
          </a:solidFill>
          <a:ln w="12700">
            <a:solidFill>
              <a:srgbClr val="E85D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8599018" y="114300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5D4A"/>
                </a:solidFill>
              </a:rPr>
              <a:t>4.8%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37760" y="16916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Middle (41-60)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58000" y="1773936"/>
            <a:ext cx="799186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7730338" y="169164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</a:rPr>
              <a:t>2.3%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37760" y="22402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Adult (26-40)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858000" y="2322576"/>
            <a:ext cx="277978" cy="182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7209130" y="224028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0.8%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37760" y="27889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Young (18-25)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858000" y="2871216"/>
            <a:ext cx="138989" cy="182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7070141" y="278892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0.4%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37760" y="33375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Child (0-17)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858000" y="3419856"/>
            <a:ext cx="208483" cy="182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7139635" y="333756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0.6%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937760" y="30906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4B"/>
                </a:solidFill>
              </a:rPr>
              <a:t>Readmission Rate by Insurance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937760" y="3547872"/>
            <a:ext cx="164592" cy="164592"/>
          </a:xfrm>
          <a:prstGeom prst="rect">
            <a:avLst/>
          </a:prstGeom>
          <a:solidFill>
            <a:srgbClr val="E85D4A"/>
          </a:solidFill>
          <a:ln w="12700">
            <a:solidFill>
              <a:srgbClr val="E85D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5166360" y="3493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Ayushman Bharat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132320" y="34930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E85D4A"/>
                </a:solidFill>
              </a:rPr>
              <a:t>26.4%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937760" y="3840480"/>
            <a:ext cx="164592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5166360" y="37856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ESIC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132320" y="378561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D97706"/>
                </a:solidFill>
              </a:rPr>
              <a:t>23.1%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937760" y="4133088"/>
            <a:ext cx="164592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5166360" y="40782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CGHS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132320" y="407822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D97706"/>
                </a:solidFill>
              </a:rPr>
              <a:t>19.8%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937760" y="4425696"/>
            <a:ext cx="164592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5166360" y="43708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Private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7132320" y="437083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28090"/>
                </a:solidFill>
              </a:rPr>
              <a:t>15.2%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937760" y="4718304"/>
            <a:ext cx="164592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516636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Uninsured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7132320" y="4663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D97706"/>
                </a:solidFill>
              </a:rPr>
              <a:t>18%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274320" y="475488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SQL: Chronic vs non-chronic JOIN  |  Mortality by AGE GROUP  |  Readmit rate by insurance_type  |  CASE WHEN chronic_flag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DIAGNOSIS &amp; DEPARTMENT  |  Top Codes &amp; Patient Satisfaction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71323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4B"/>
                </a:solidFill>
              </a:rPr>
              <a:t>Top Diagnosis Codes per Department  (RANK window function)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1463040" cy="54864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1170432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Cardiology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0" y="1243584"/>
            <a:ext cx="960120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865376" y="1243584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I21 — AMI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834640" y="1243584"/>
            <a:ext cx="96012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871216" y="1243584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I25 — Chr. IHD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840480" y="1243584"/>
            <a:ext cx="96012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877056" y="1243584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I50 — CHF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892040" y="1353312"/>
            <a:ext cx="457200" cy="164592"/>
          </a:xfrm>
          <a:prstGeom prst="rect">
            <a:avLst/>
          </a:prstGeom>
          <a:solidFill>
            <a:srgbClr val="F4A832"/>
          </a:solidFill>
          <a:ln w="12700">
            <a:solidFill>
              <a:srgbClr val="F4A8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892040" y="135331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#1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4320" y="1856232"/>
            <a:ext cx="1463040" cy="54864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74320" y="1856232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Neurology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28800" y="1929384"/>
            <a:ext cx="960120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865376" y="1929384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G35 — MS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834640" y="1929384"/>
            <a:ext cx="96012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871216" y="1929384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I63 — Stroke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840480" y="1929384"/>
            <a:ext cx="96012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877056" y="1929384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G40 — Epilepsy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892040" y="2039112"/>
            <a:ext cx="457200" cy="164592"/>
          </a:xfrm>
          <a:prstGeom prst="rect">
            <a:avLst/>
          </a:prstGeom>
          <a:solidFill>
            <a:srgbClr val="F4A832"/>
          </a:solidFill>
          <a:ln w="12700">
            <a:solidFill>
              <a:srgbClr val="F4A8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892040" y="203911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#1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4320" y="2542032"/>
            <a:ext cx="1463040" cy="54864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274320" y="2542032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Oncology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828800" y="2615184"/>
            <a:ext cx="960120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1865376" y="2615184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C34 — Lung CA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834640" y="2615184"/>
            <a:ext cx="96012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871216" y="2615184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C50 — Breast CA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840480" y="2615184"/>
            <a:ext cx="96012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877056" y="2615184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C18 — Colon CA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892040" y="2724912"/>
            <a:ext cx="457200" cy="164592"/>
          </a:xfrm>
          <a:prstGeom prst="rect">
            <a:avLst/>
          </a:prstGeom>
          <a:solidFill>
            <a:srgbClr val="F4A832"/>
          </a:solidFill>
          <a:ln w="12700">
            <a:solidFill>
              <a:srgbClr val="F4A8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892040" y="272491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#1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74320" y="3227832"/>
            <a:ext cx="1463040" cy="54864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274320" y="3227832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Orthopedics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828800" y="3300984"/>
            <a:ext cx="960120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1865376" y="3300984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M16 — Hip OA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834640" y="3300984"/>
            <a:ext cx="96012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2871216" y="3300984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S72 — Hip Fx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840480" y="3300984"/>
            <a:ext cx="96012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877056" y="3300984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M17 — Knee OA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892040" y="3410712"/>
            <a:ext cx="457200" cy="164592"/>
          </a:xfrm>
          <a:prstGeom prst="rect">
            <a:avLst/>
          </a:prstGeom>
          <a:solidFill>
            <a:srgbClr val="F4A832"/>
          </a:solidFill>
          <a:ln w="12700">
            <a:solidFill>
              <a:srgbClr val="F4A8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4892040" y="341071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#1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74320" y="3913632"/>
            <a:ext cx="1463040" cy="54864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274320" y="3913632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Pediatrics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828800" y="3986784"/>
            <a:ext cx="960120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1865376" y="3986784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J06 — URTI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834640" y="3986784"/>
            <a:ext cx="96012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2871216" y="3986784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A09 — Diarrhea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840480" y="3986784"/>
            <a:ext cx="96012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3877056" y="3986784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J18 — Pneumonia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892040" y="4096512"/>
            <a:ext cx="457200" cy="164592"/>
          </a:xfrm>
          <a:prstGeom prst="rect">
            <a:avLst/>
          </a:prstGeom>
          <a:solidFill>
            <a:srgbClr val="F4A832"/>
          </a:solidFill>
          <a:ln w="12700">
            <a:solidFill>
              <a:srgbClr val="F4A8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4892040" y="409651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#1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303520" y="71323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4B"/>
                </a:solidFill>
              </a:rPr>
              <a:t>Dept Satisfaction vs Occupancy Rate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5303520" y="117043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ICU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858000" y="1252728"/>
            <a:ext cx="859536" cy="164592"/>
          </a:xfrm>
          <a:prstGeom prst="rect">
            <a:avLst/>
          </a:prstGeom>
          <a:solidFill>
            <a:srgbClr val="E85D4A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7863840" y="117043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94%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366760" y="1170432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A832"/>
                </a:solidFill>
              </a:rPr>
              <a:t>★★★☆☆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303520" y="175564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Cardiology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858000" y="1837944"/>
            <a:ext cx="813816" cy="164592"/>
          </a:xfrm>
          <a:prstGeom prst="rect">
            <a:avLst/>
          </a:prstGeom>
          <a:solidFill>
            <a:srgbClr val="E85D4A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7863840" y="175564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89%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8366760" y="1755648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A832"/>
                </a:solidFill>
              </a:rPr>
              <a:t>★★★☆☆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5303520" y="234086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Oncology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858000" y="2423160"/>
            <a:ext cx="749808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7863840" y="234086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82%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8366760" y="2340864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A832"/>
                </a:solidFill>
              </a:rPr>
              <a:t>★★★★☆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5303520" y="29260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Orthopedics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858000" y="3008376"/>
            <a:ext cx="685800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7863840" y="292608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75%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8366760" y="2926080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A832"/>
                </a:solidFill>
              </a:rPr>
              <a:t>★★★★☆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5303520" y="3511296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Pediatrics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6858000" y="3593592"/>
            <a:ext cx="621792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7863840" y="3511296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68%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8366760" y="351129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A832"/>
                </a:solidFill>
              </a:rPr>
              <a:t>★★★★☆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5303520" y="409651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General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6858000" y="4178808"/>
            <a:ext cx="548640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7863840" y="409651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60%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8366760" y="4096512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A832"/>
                </a:solidFill>
              </a:rPr>
              <a:t>★★★★★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6858000" y="45720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← Occ%  Sat →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274320" y="475488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SQL: Top 3 diagnosis codes via RANK() OVER PARTITION BY dept  |  Satisfaction JOIN encounter + patient + departments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KEY INSIGHTS &amp; RECOMMENDATIONS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75488" cy="1234440"/>
          </a:xfrm>
          <a:prstGeom prst="rect">
            <a:avLst/>
          </a:prstGeom>
          <a:solidFill>
            <a:srgbClr val="E85D4A"/>
          </a:solidFill>
          <a:ln w="12700">
            <a:solidFill>
              <a:srgbClr val="E85D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47548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9144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Reduce Readmissions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2344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Introduce post-discharge follow-up calls for Ayushman Bharat &amp; ESIC — target below 20% readmission rate.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14884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74320" y="2148840"/>
            <a:ext cx="475488" cy="1234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74320" y="2148840"/>
            <a:ext cx="47548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48" y="2286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Recover Overdue Billing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1248" y="26060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Prioritise recovery in Maharashtra, Tamil Nadu &amp; Karnataka — 3 states hold 60%+ of outstanding balance.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52044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74320" y="3520440"/>
            <a:ext cx="475488" cy="123444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74320" y="3520440"/>
            <a:ext cx="47548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1248" y="3657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ICU &amp; Cardiology Efficiency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1248" y="39776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Highest cost per LOS day — review staffing ratios &amp; resource allocation. Consider standardized protocols.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77724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754880" y="777240"/>
            <a:ext cx="475488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754880" y="777240"/>
            <a:ext cx="47548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21808" y="9144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Capacity Expansion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21808" y="12344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Depts with &gt;80% occupancy show below-average satisfaction. Plan capacity expansion for ICU &amp; Cardiology.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14884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754880" y="2148840"/>
            <a:ext cx="475488" cy="1234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754880" y="2148840"/>
            <a:ext cx="47548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21808" y="2286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Chronic Disease Programs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21808" y="26060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Chronic patients cost 2.3× more per encounter. Invest in prevention programs to reduce hospitalizations.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52044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754880" y="3520440"/>
            <a:ext cx="475488" cy="123444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754880" y="3520440"/>
            <a:ext cx="47548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21808" y="3657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Doctor Training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21808" y="39776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Doctors with below-average ratings need targeted training. Patient interaction programs improve satisfaction scores.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498080" y="-457200"/>
            <a:ext cx="2011680" cy="2011680"/>
          </a:xfrm>
          <a:prstGeom prst="ellipse">
            <a:avLst/>
          </a:prstGeom>
          <a:solidFill>
            <a:srgbClr val="02A896">
              <a:alpha val="18000"/>
            </a:srgbClr>
          </a:solidFill>
          <a:ln w="12700">
            <a:solidFill>
              <a:srgbClr val="02A896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2A896"/>
                </a:solidFill>
              </a:rPr>
              <a:t>Healthcare Analytics Dashboard  |  Indian Hospital Management System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4CC"/>
                </a:solidFill>
              </a:rPr>
              <a:t>— 100K+ Encounters  |  79K+ Patients  |  2019–2023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40156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4CC"/>
                </a:solidFill>
              </a:rPr>
              <a:t>— 5 SQL-queried tables joined via Master VIEW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785616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4CC"/>
                </a:solidFill>
              </a:rPr>
              <a:t>— Window functions, CTEs, JOINs &amp; aggregation throughout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4389120"/>
            <a:ext cx="320040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4389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Powered by SQL  +  Power BI  +  Data Analytics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1230</Words>
  <Application>Microsoft Office PowerPoint</Application>
  <PresentationFormat>On-screen Show (16:9)</PresentationFormat>
  <Paragraphs>379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Analytics Dashboard</dc:title>
  <dc:subject>PptxGenJS Presentation</dc:subject>
  <dc:creator>PptxGenJS</dc:creator>
  <cp:lastModifiedBy>Balaji Chowdary</cp:lastModifiedBy>
  <cp:revision>2</cp:revision>
  <dcterms:created xsi:type="dcterms:W3CDTF">2026-03-17T19:42:13Z</dcterms:created>
  <dcterms:modified xsi:type="dcterms:W3CDTF">2026-03-17T19:51:58Z</dcterms:modified>
</cp:coreProperties>
</file>